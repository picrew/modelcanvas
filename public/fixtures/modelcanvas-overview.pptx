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c55c018c65d4ca0" /><Relationship Type="http://schemas.openxmlformats.org/officeDocument/2006/relationships/extended-properties" Target="/docProps/app.xml" Id="R6dfbecfbd2c4417b" /><Relationship Type="http://schemas.openxmlformats.org/officeDocument/2006/relationships/officeDocument" Target="/ppt/presentation.xml" Id="Rb840c802b0534b6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93dd6a098ef46c5"/>
  </p:sldMasterIdLst>
  <p:notesMasterIdLst>
    <p:notesMasterId xmlns:r="http://schemas.openxmlformats.org/officeDocument/2006/relationships" r:id="R4ad55ac6192f461e"/>
  </p:notesMasterIdLst>
  <p:sldIdLst>
    <p:sldId xmlns:r="http://schemas.openxmlformats.org/officeDocument/2006/relationships" id="256" r:id="Rb660bade77f0494b"/>
    <p:sldId xmlns:r="http://schemas.openxmlformats.org/officeDocument/2006/relationships" id="257" r:id="Ra5640b11d50b48f2"/>
    <p:sldId xmlns:r="http://schemas.openxmlformats.org/officeDocument/2006/relationships" id="258" r:id="R45e3d849f593439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39c8189512d4a5c" /><Relationship Type="http://schemas.openxmlformats.org/officeDocument/2006/relationships/slideMaster" Target="/ppt/slideMasters/slideMaster1.xml" Id="R793dd6a098ef46c5" /><Relationship Type="http://schemas.openxmlformats.org/officeDocument/2006/relationships/notesMaster" Target="/ppt/notesMasters/notesMaster1.xml" Id="R4ad55ac6192f461e" /><Relationship Type="http://schemas.openxmlformats.org/officeDocument/2006/relationships/presProps" Target="/ppt/presProps.xml" Id="R4bdd2ce371c54917" /><Relationship Type="http://schemas.openxmlformats.org/officeDocument/2006/relationships/tableStyles" Target="/ppt/tableStyles.xml" Id="Re57d9ce7fb4e41da" /><Relationship Type="http://schemas.openxmlformats.org/officeDocument/2006/relationships/slide" Target="/ppt/slides/slide1.xml" Id="Rb660bade77f0494b" /><Relationship Type="http://schemas.openxmlformats.org/officeDocument/2006/relationships/slide" Target="/ppt/slides/slide2.xml" Id="Ra5640b11d50b48f2" /><Relationship Type="http://schemas.openxmlformats.org/officeDocument/2006/relationships/slide" Target="/ppt/slides/slide3.xml" Id="R45e3d849f593439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45476faf592426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bf2d921ba004213" /><Relationship Type="http://schemas.openxmlformats.org/officeDocument/2006/relationships/notesMaster" Target="/ppt/notesMasters/notesMaster1.xml" Id="Raf5ffca9af5849e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5aa1b2af5a94f8f" /><Relationship Type="http://schemas.openxmlformats.org/officeDocument/2006/relationships/notesMaster" Target="/ppt/notesMasters/notesMaster1.xml" Id="R152a17e6369c40b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ee6c2c0031f4687" /><Relationship Type="http://schemas.openxmlformats.org/officeDocument/2006/relationships/notesMaster" Target="/ppt/notesMasters/notesMaster1.xml" Id="R476cfcf8b2214ac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15ff5adf9b46b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db63c7009304a97" /><Relationship Type="http://schemas.openxmlformats.org/officeDocument/2006/relationships/slideLayout" Target="/ppt/slideLayouts/slideLayout1.xml" Id="R181c7e4278aa403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81c7e4278aa403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20a1019fb34505" /><Relationship Type="http://schemas.openxmlformats.org/officeDocument/2006/relationships/notesSlide" Target="/ppt/notesSlides/notesSlide1.xml" Id="R9114b94576e943d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1d3e82782e4bb7" /><Relationship Type="http://schemas.openxmlformats.org/officeDocument/2006/relationships/notesSlide" Target="/ppt/notesSlides/notesSlide2.xml" Id="R09f70c5527f6418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dcd7c1d2ad4422" /><Relationship Type="http://schemas.openxmlformats.org/officeDocument/2006/relationships/notesSlide" Target="/ppt/notesSlides/notesSlide3.xml" Id="R4b8e78ee3a1a4d8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18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E2E1E04C-3D97-4A2F-A6B8-BB1B5DC19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915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B79EA"/>
                </a:solidFill>
              </a:defRPr>
            </a:pPr>
            <a:r>
              <a:rPr sz="1050" b="1">
                <a:solidFill>
                  <a:srgbClr val="5B79EA"/>
                </a:solidFill>
              </a:rPr>
              <a:t>UNIVERSAL RENDERING BRIDGE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FC13E9C-9077-4470-8802-CA69A18AF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66850"/>
            <a:ext cx="6667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Rich model output,</a:t>
            </a:r>
          </a:p>
          <a:p xmlns:a="http://schemas.openxmlformats.org/drawingml/2006/main">
            <a:pPr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without blind trust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2C63F256-AE56-4AB7-AB2A-5D95B6931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24250"/>
            <a:ext cx="5619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DCE6FF"/>
                </a:solidFill>
              </a:defRPr>
            </a:pPr>
            <a:r>
              <a:rPr sz="1725">
                <a:solidFill>
                  <a:srgbClr val="DCE6FF"/>
                </a:solidFill>
              </a:rPr>
              <a:t>A versioned protocol, lazy Renderer Registry, controlled components, and isolated artifacts - in one interactive Playground.</a:t>
            </a:r>
          </a:p>
        </p:txBody>
      </p:sp>
      <p:sp>
        <p:nvSpPr>
          <p:cNvPr id="4" name="protocol-orbit">
            <a:extLst xmlns:a="http://schemas.openxmlformats.org/drawingml/2006/main">
              <a:ext uri="{FF2B5EF4-FFF2-40B4-BE49-F238E27FC236}">
                <a16:creationId xmlns:a16="http://schemas.microsoft.com/office/drawing/2014/main" id="{C8B36E1A-6E8B-4A01-BD0D-391B5604F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476375"/>
            <a:ext cx="2381250" cy="23812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5B79EA"/>
            </a:solidFill>
            <a:prstDash val="solid"/>
          </a:ln>
        </p:spPr>
      </p:sp>
      <p:sp>
        <p:nvSpPr>
          <p:cNvPr id="5" name="protocol-core">
            <a:extLst xmlns:a="http://schemas.openxmlformats.org/drawingml/2006/main">
              <a:ext uri="{FF2B5EF4-FFF2-40B4-BE49-F238E27FC236}">
                <a16:creationId xmlns:a16="http://schemas.microsoft.com/office/drawing/2014/main" id="{F82CB92E-7813-4D55-8207-46D1B03DB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219325"/>
            <a:ext cx="895350" cy="895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79EA"/>
          </a:solidFill>
          <a:ln xmlns:a="http://schemas.openxmlformats.org/drawingml/2006/main" w="9525">
            <a:solidFill>
              <a:srgbClr val="5B79EA"/>
            </a:solidFill>
            <a:prstDash val="solid"/>
          </a:ln>
        </p:spPr>
      </p:sp>
      <p:sp>
        <p:nvSpPr>
          <p:cNvPr id="6" name="core-label">
            <a:extLst xmlns:a="http://schemas.openxmlformats.org/drawingml/2006/main">
              <a:ext uri="{FF2B5EF4-FFF2-40B4-BE49-F238E27FC236}">
                <a16:creationId xmlns:a16="http://schemas.microsoft.com/office/drawing/2014/main" id="{43ECD63B-1A55-458A-936F-AC759CC5F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447925"/>
            <a:ext cx="895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1.0</a:t>
            </a:r>
          </a:p>
        </p:txBody>
      </p:sp>
      <p:sp>
        <p:nvSpPr>
          <p:cNvPr id="7" name="node-TEXT">
            <a:extLst xmlns:a="http://schemas.openxmlformats.org/drawingml/2006/main">
              <a:ext uri="{FF2B5EF4-FFF2-40B4-BE49-F238E27FC236}">
                <a16:creationId xmlns:a16="http://schemas.microsoft.com/office/drawing/2014/main" id="{B358223C-4EED-4052-9243-C5DC0EA41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733425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95F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8" name="label-TEXT">
            <a:extLst xmlns:a="http://schemas.openxmlformats.org/drawingml/2006/main">
              <a:ext uri="{FF2B5EF4-FFF2-40B4-BE49-F238E27FC236}">
                <a16:creationId xmlns:a16="http://schemas.microsoft.com/office/drawing/2014/main" id="{39636C9B-B5B0-4F36-931D-7C21341CB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942975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10182B"/>
                </a:solidFill>
              </a:defRPr>
            </a:pPr>
            <a:r>
              <a:rPr sz="675" b="1">
                <a:solidFill>
                  <a:srgbClr val="10182B"/>
                </a:solidFill>
              </a:rPr>
              <a:t>TEXT</a:t>
            </a:r>
          </a:p>
        </p:txBody>
      </p:sp>
      <p:sp>
        <p:nvSpPr>
          <p:cNvPr id="9" name="node-DATA">
            <a:extLst xmlns:a="http://schemas.openxmlformats.org/drawingml/2006/main">
              <a:ext uri="{FF2B5EF4-FFF2-40B4-BE49-F238E27FC236}">
                <a16:creationId xmlns:a16="http://schemas.microsoft.com/office/drawing/2014/main" id="{C11CEBAA-F12F-4C85-838A-5F8BAE39B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7798" y="1852299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1FF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0" name="label-DATA">
            <a:extLst xmlns:a="http://schemas.openxmlformats.org/drawingml/2006/main">
              <a:ext uri="{FF2B5EF4-FFF2-40B4-BE49-F238E27FC236}">
                <a16:creationId xmlns:a16="http://schemas.microsoft.com/office/drawing/2014/main" id="{616A70E2-9537-4D47-9CD8-09647E355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6373" y="2061849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10182B"/>
                </a:solidFill>
              </a:defRPr>
            </a:pPr>
            <a:r>
              <a:rPr sz="675" b="1">
                <a:solidFill>
                  <a:srgbClr val="10182B"/>
                </a:solidFill>
              </a:rPr>
              <a:t>DATA</a:t>
            </a:r>
          </a:p>
        </p:txBody>
      </p:sp>
      <p:sp>
        <p:nvSpPr>
          <p:cNvPr id="11" name="node-MEDIA">
            <a:extLst xmlns:a="http://schemas.openxmlformats.org/drawingml/2006/main">
              <a:ext uri="{FF2B5EF4-FFF2-40B4-BE49-F238E27FC236}">
                <a16:creationId xmlns:a16="http://schemas.microsoft.com/office/drawing/2014/main" id="{048B7304-27D4-4C30-93CF-33BA2A758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9571" y="3662676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95F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2" name="label-MEDIA">
            <a:extLst xmlns:a="http://schemas.openxmlformats.org/drawingml/2006/main">
              <a:ext uri="{FF2B5EF4-FFF2-40B4-BE49-F238E27FC236}">
                <a16:creationId xmlns:a16="http://schemas.microsoft.com/office/drawing/2014/main" id="{07920A87-C6D4-4550-B20A-9BE360BA5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146" y="3872226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10182B"/>
                </a:solidFill>
              </a:defRPr>
            </a:pPr>
            <a:r>
              <a:rPr sz="675" b="1">
                <a:solidFill>
                  <a:srgbClr val="10182B"/>
                </a:solidFill>
              </a:rPr>
              <a:t>MEDIA</a:t>
            </a:r>
          </a:p>
        </p:txBody>
      </p:sp>
      <p:sp>
        <p:nvSpPr>
          <p:cNvPr id="13" name="node-FILES">
            <a:extLst xmlns:a="http://schemas.openxmlformats.org/drawingml/2006/main">
              <a:ext uri="{FF2B5EF4-FFF2-40B4-BE49-F238E27FC236}">
                <a16:creationId xmlns:a16="http://schemas.microsoft.com/office/drawing/2014/main" id="{9B9D5D89-4A9F-4C28-8343-92A80B8B3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6029" y="3662676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1FF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4" name="label-FILES">
            <a:extLst xmlns:a="http://schemas.openxmlformats.org/drawingml/2006/main">
              <a:ext uri="{FF2B5EF4-FFF2-40B4-BE49-F238E27FC236}">
                <a16:creationId xmlns:a16="http://schemas.microsoft.com/office/drawing/2014/main" id="{A7A4DF87-18FE-4C35-995D-A3F1102D1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4604" y="3872226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10182B"/>
                </a:solidFill>
              </a:defRPr>
            </a:pPr>
            <a:r>
              <a:rPr sz="675" b="1">
                <a:solidFill>
                  <a:srgbClr val="10182B"/>
                </a:solidFill>
              </a:rPr>
              <a:t>FILES</a:t>
            </a:r>
          </a:p>
        </p:txBody>
      </p:sp>
      <p:sp>
        <p:nvSpPr>
          <p:cNvPr id="15" name="node-CODE">
            <a:extLst xmlns:a="http://schemas.openxmlformats.org/drawingml/2006/main">
              <a:ext uri="{FF2B5EF4-FFF2-40B4-BE49-F238E27FC236}">
                <a16:creationId xmlns:a16="http://schemas.microsoft.com/office/drawing/2014/main" id="{B6873DAC-1020-42BB-B7AD-05F3BD2D5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7802" y="1852299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95F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6" name="label-CODE">
            <a:extLst xmlns:a="http://schemas.openxmlformats.org/drawingml/2006/main">
              <a:ext uri="{FF2B5EF4-FFF2-40B4-BE49-F238E27FC236}">
                <a16:creationId xmlns:a16="http://schemas.microsoft.com/office/drawing/2014/main" id="{87C21F47-F12D-437B-9DFB-849708F8C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6377" y="2061849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10182B"/>
                </a:solidFill>
              </a:defRPr>
            </a:pPr>
            <a:r>
              <a:rPr sz="675" b="1">
                <a:solidFill>
                  <a:srgbClr val="10182B"/>
                </a:solidFill>
              </a:rPr>
              <a:t>CODE</a:t>
            </a:r>
          </a:p>
        </p:txBody>
      </p:sp>
      <p:sp>
        <p:nvSpPr>
          <p:cNvPr id="17" name="footer-1">
            <a:extLst xmlns:a="http://schemas.openxmlformats.org/drawingml/2006/main">
              <a:ext uri="{FF2B5EF4-FFF2-40B4-BE49-F238E27FC236}">
                <a16:creationId xmlns:a16="http://schemas.microsoft.com/office/drawing/2014/main" id="{8703F6B7-6F19-4CA8-AA6D-F227573FE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8C9AB5"/>
                </a:solidFill>
              </a:defRPr>
            </a:pPr>
            <a:r>
              <a:rPr sz="675">
                <a:solidFill>
                  <a:srgbClr val="8C9AB5"/>
                </a:solidFill>
              </a:rPr>
              <a:t>MODELCANVAS  /  OFFLINE FIXTURE                                      1</a:t>
            </a:r>
          </a:p>
        </p:txBody>
      </p:sp>
    </p:spTree>
    <p:extLst>
      <p:ext uri="{BB962C8B-B14F-4D97-AF65-F5344CB8AC3E}">
        <p14:creationId xmlns:p14="http://schemas.microsoft.com/office/powerpoint/2010/main" val="200451015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09C7D828-52D1-4B6C-B98B-0C5ED80BE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B79EA"/>
                </a:solidFill>
              </a:defRPr>
            </a:pPr>
            <a:r>
              <a:rPr sz="975" b="1">
                <a:solidFill>
                  <a:srgbClr val="5B79EA"/>
                </a:solidFill>
              </a:rPr>
              <a:t>THREE TRUST PATHS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2110143-6BF6-4924-8279-41ADED9CC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828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0182B"/>
                </a:solidFill>
              </a:defRPr>
            </a:pPr>
            <a:r>
              <a:rPr sz="3150" b="1">
                <a:solidFill>
                  <a:srgbClr val="10182B"/>
                </a:solidFill>
              </a:rPr>
              <a:t>The runtime boundary matches the risk</a:t>
            </a:r>
          </a:p>
        </p:txBody>
      </p:sp>
      <p:sp>
        <p:nvSpPr>
          <p:cNvPr id="3" name="card-0">
            <a:extLst xmlns:a="http://schemas.openxmlformats.org/drawingml/2006/main">
              <a:ext uri="{FF2B5EF4-FFF2-40B4-BE49-F238E27FC236}">
                <a16:creationId xmlns:a16="http://schemas.microsoft.com/office/drawing/2014/main" id="{4331E7CF-D66A-4B8E-BBFB-C3E647D30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3314700" cy="3295650"/>
          </a:xfrm>
          <a:prstGeom xmlns:a="http://schemas.openxmlformats.org/drawingml/2006/main" prst="roundRect">
            <a:avLst>
              <a:gd name="adj" fmla="val 346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2EB"/>
            </a:solidFill>
            <a:prstDash val="solid"/>
          </a:ln>
        </p:spPr>
      </p:sp>
      <p:sp>
        <p:nvSpPr>
          <p:cNvPr id="4" name="number-0">
            <a:extLst xmlns:a="http://schemas.openxmlformats.org/drawingml/2006/main">
              <a:ext uri="{FF2B5EF4-FFF2-40B4-BE49-F238E27FC236}">
                <a16:creationId xmlns:a16="http://schemas.microsoft.com/office/drawing/2014/main" id="{BC090EB8-B1DA-443D-81B4-C68A186B2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098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4D1A7"/>
                </a:solidFill>
              </a:defRPr>
            </a:pPr>
            <a:r>
              <a:rPr sz="1050" b="1">
                <a:solidFill>
                  <a:srgbClr val="54D1A7"/>
                </a:solidFill>
              </a:rPr>
              <a:t>01</a:t>
            </a:r>
          </a:p>
        </p:txBody>
      </p:sp>
      <p:sp>
        <p:nvSpPr>
          <p:cNvPr id="5" name="heading-0">
            <a:extLst xmlns:a="http://schemas.openxmlformats.org/drawingml/2006/main">
              <a:ext uri="{FF2B5EF4-FFF2-40B4-BE49-F238E27FC236}">
                <a16:creationId xmlns:a16="http://schemas.microsoft.com/office/drawing/2014/main" id="{43596B22-BCD0-4647-B912-7F3396B22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86050"/>
            <a:ext cx="266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0182B"/>
                </a:solidFill>
              </a:defRPr>
            </a:pPr>
            <a:r>
              <a:rPr sz="2325" b="1">
                <a:solidFill>
                  <a:srgbClr val="10182B"/>
                </a:solidFill>
              </a:rPr>
              <a:t>Controlled</a:t>
            </a:r>
          </a:p>
        </p:txBody>
      </p:sp>
      <p:sp>
        <p:nvSpPr>
          <p:cNvPr id="6" name="body-0">
            <a:extLst xmlns:a="http://schemas.openxmlformats.org/drawingml/2006/main">
              <a:ext uri="{FF2B5EF4-FFF2-40B4-BE49-F238E27FC236}">
                <a16:creationId xmlns:a16="http://schemas.microsoft.com/office/drawing/2014/main" id="{08122E2E-2A80-4C64-8F77-D4892DCCD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09950"/>
            <a:ext cx="2667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26079"/>
                </a:solidFill>
              </a:defRPr>
            </a:pPr>
            <a:r>
              <a:rPr sz="1425">
                <a:solidFill>
                  <a:srgbClr val="526079"/>
                </a:solidFill>
              </a:rPr>
              <a:t>Pre-registered React components receive exact, validated payloads.</a:t>
            </a:r>
          </a:p>
        </p:txBody>
      </p:sp>
      <p:sp>
        <p:nvSpPr>
          <p:cNvPr id="7" name="tag-box-0">
            <a:extLst xmlns:a="http://schemas.openxmlformats.org/drawingml/2006/main">
              <a:ext uri="{FF2B5EF4-FFF2-40B4-BE49-F238E27FC236}">
                <a16:creationId xmlns:a16="http://schemas.microsoft.com/office/drawing/2014/main" id="{CBD0A1D1-717C-48E6-B63D-F3BC3F8C8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29150"/>
            <a:ext cx="10477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EDF1FF"/>
          </a:solidFill>
          <a:ln xmlns:a="http://schemas.openxmlformats.org/drawingml/2006/main" w="9525">
            <a:solidFill>
              <a:srgbClr val="D4DEFF"/>
            </a:solidFill>
            <a:prstDash val="solid"/>
          </a:ln>
        </p:spPr>
      </p:sp>
      <p:sp>
        <p:nvSpPr>
          <p:cNvPr id="8" name="tag-0">
            <a:extLst xmlns:a="http://schemas.openxmlformats.org/drawingml/2006/main">
              <a:ext uri="{FF2B5EF4-FFF2-40B4-BE49-F238E27FC236}">
                <a16:creationId xmlns:a16="http://schemas.microsoft.com/office/drawing/2014/main" id="{F4A2D538-3253-4998-84B2-D514E7981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24400"/>
            <a:ext cx="819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5B79EA"/>
                </a:solidFill>
              </a:defRPr>
            </a:pPr>
            <a:r>
              <a:rPr sz="825" b="1">
                <a:solidFill>
                  <a:srgbClr val="5B79EA"/>
                </a:solidFill>
              </a:rPr>
              <a:t>Default path</a:t>
            </a:r>
          </a:p>
        </p:txBody>
      </p:sp>
      <p:sp>
        <p:nvSpPr>
          <p:cNvPr id="9" name="card-1">
            <a:extLst xmlns:a="http://schemas.openxmlformats.org/drawingml/2006/main">
              <a:ext uri="{FF2B5EF4-FFF2-40B4-BE49-F238E27FC236}">
                <a16:creationId xmlns:a16="http://schemas.microsoft.com/office/drawing/2014/main" id="{32F544B2-F9F9-4105-8C98-4CFC273B3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952625"/>
            <a:ext cx="3314700" cy="3295650"/>
          </a:xfrm>
          <a:prstGeom xmlns:a="http://schemas.openxmlformats.org/drawingml/2006/main" prst="roundRect">
            <a:avLst>
              <a:gd name="adj" fmla="val 346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2EB"/>
            </a:solidFill>
            <a:prstDash val="solid"/>
          </a:ln>
        </p:spPr>
      </p:sp>
      <p:sp>
        <p:nvSpPr>
          <p:cNvPr id="10" name="number-1">
            <a:extLst xmlns:a="http://schemas.openxmlformats.org/drawingml/2006/main">
              <a:ext uri="{FF2B5EF4-FFF2-40B4-BE49-F238E27FC236}">
                <a16:creationId xmlns:a16="http://schemas.microsoft.com/office/drawing/2014/main" id="{1D430230-416F-4922-945A-2647B8CD5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2098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B79EA"/>
                </a:solidFill>
              </a:defRPr>
            </a:pPr>
            <a:r>
              <a:rPr sz="1050" b="1">
                <a:solidFill>
                  <a:srgbClr val="5B79EA"/>
                </a:solidFill>
              </a:rPr>
              <a:t>02</a:t>
            </a:r>
          </a:p>
        </p:txBody>
      </p:sp>
      <p:sp>
        <p:nvSpPr>
          <p:cNvPr id="11" name="heading-1">
            <a:extLst xmlns:a="http://schemas.openxmlformats.org/drawingml/2006/main">
              <a:ext uri="{FF2B5EF4-FFF2-40B4-BE49-F238E27FC236}">
                <a16:creationId xmlns:a16="http://schemas.microsoft.com/office/drawing/2014/main" id="{62E1FCAE-2168-4C84-B11D-2DB26FB04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686050"/>
            <a:ext cx="266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0182B"/>
                </a:solidFill>
              </a:defRPr>
            </a:pPr>
            <a:r>
              <a:rPr sz="2325" b="1">
                <a:solidFill>
                  <a:srgbClr val="10182B"/>
                </a:solidFill>
              </a:rPr>
              <a:t>Declarative</a:t>
            </a:r>
          </a:p>
        </p:txBody>
      </p:sp>
      <p:sp>
        <p:nvSpPr>
          <p:cNvPr id="12" name="body-1">
            <a:extLst xmlns:a="http://schemas.openxmlformats.org/drawingml/2006/main">
              <a:ext uri="{FF2B5EF4-FFF2-40B4-BE49-F238E27FC236}">
                <a16:creationId xmlns:a16="http://schemas.microsoft.com/office/drawing/2014/main" id="{089B238E-078F-481D-9535-3B33B0A57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409950"/>
            <a:ext cx="2667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26079"/>
                </a:solidFill>
              </a:defRPr>
            </a:pPr>
            <a:r>
              <a:rPr sz="1425">
                <a:solidFill>
                  <a:srgbClr val="526079"/>
                </a:solidFill>
              </a:rPr>
              <a:t>Models compose only fields and layouts from an allow-listed catalog.</a:t>
            </a:r>
          </a:p>
        </p:txBody>
      </p:sp>
      <p:sp>
        <p:nvSpPr>
          <p:cNvPr id="13" name="tag-box-1">
            <a:extLst xmlns:a="http://schemas.openxmlformats.org/drawingml/2006/main">
              <a:ext uri="{FF2B5EF4-FFF2-40B4-BE49-F238E27FC236}">
                <a16:creationId xmlns:a16="http://schemas.microsoft.com/office/drawing/2014/main" id="{D785BE40-26CC-4922-ACDE-13F607A77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629150"/>
            <a:ext cx="10477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EDF1FF"/>
          </a:solidFill>
          <a:ln xmlns:a="http://schemas.openxmlformats.org/drawingml/2006/main" w="9525">
            <a:solidFill>
              <a:srgbClr val="D4DEFF"/>
            </a:solidFill>
            <a:prstDash val="solid"/>
          </a:ln>
        </p:spPr>
      </p:sp>
      <p:sp>
        <p:nvSpPr>
          <p:cNvPr id="14" name="tag-1">
            <a:extLst xmlns:a="http://schemas.openxmlformats.org/drawingml/2006/main">
              <a:ext uri="{FF2B5EF4-FFF2-40B4-BE49-F238E27FC236}">
                <a16:creationId xmlns:a16="http://schemas.microsoft.com/office/drawing/2014/main" id="{AA8EBC4D-F8D7-4F21-8BFC-F7B91DD20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724400"/>
            <a:ext cx="819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5B79EA"/>
                </a:solidFill>
              </a:defRPr>
            </a:pPr>
            <a:r>
              <a:rPr sz="825" b="1">
                <a:solidFill>
                  <a:srgbClr val="5B79EA"/>
                </a:solidFill>
              </a:rPr>
              <a:t>Data only</a:t>
            </a:r>
          </a:p>
        </p:txBody>
      </p:sp>
      <p:sp>
        <p:nvSpPr>
          <p:cNvPr id="15" name="card-2">
            <a:extLst xmlns:a="http://schemas.openxmlformats.org/drawingml/2006/main">
              <a:ext uri="{FF2B5EF4-FFF2-40B4-BE49-F238E27FC236}">
                <a16:creationId xmlns:a16="http://schemas.microsoft.com/office/drawing/2014/main" id="{D834D5A9-FE04-4286-9909-F1A9680AF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952625"/>
            <a:ext cx="3314700" cy="3295650"/>
          </a:xfrm>
          <a:prstGeom xmlns:a="http://schemas.openxmlformats.org/drawingml/2006/main" prst="roundRect">
            <a:avLst>
              <a:gd name="adj" fmla="val 346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2EB"/>
            </a:solidFill>
            <a:prstDash val="solid"/>
          </a:ln>
        </p:spPr>
      </p:sp>
      <p:sp>
        <p:nvSpPr>
          <p:cNvPr id="16" name="number-2">
            <a:extLst xmlns:a="http://schemas.openxmlformats.org/drawingml/2006/main">
              <a:ext uri="{FF2B5EF4-FFF2-40B4-BE49-F238E27FC236}">
                <a16:creationId xmlns:a16="http://schemas.microsoft.com/office/drawing/2014/main" id="{B43F835D-AB09-401B-B5EA-7F54A795B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2098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2B95F"/>
                </a:solidFill>
              </a:defRPr>
            </a:pPr>
            <a:r>
              <a:rPr sz="1050" b="1">
                <a:solidFill>
                  <a:srgbClr val="F2B95F"/>
                </a:solidFill>
              </a:rPr>
              <a:t>03</a:t>
            </a:r>
          </a:p>
        </p:txBody>
      </p:sp>
      <p:sp>
        <p:nvSpPr>
          <p:cNvPr id="17" name="heading-2">
            <a:extLst xmlns:a="http://schemas.openxmlformats.org/drawingml/2006/main">
              <a:ext uri="{FF2B5EF4-FFF2-40B4-BE49-F238E27FC236}">
                <a16:creationId xmlns:a16="http://schemas.microsoft.com/office/drawing/2014/main" id="{A742E82E-B2C4-44C6-858F-EE6671FC7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86050"/>
            <a:ext cx="266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0182B"/>
                </a:solidFill>
              </a:defRPr>
            </a:pPr>
            <a:r>
              <a:rPr sz="2325" b="1">
                <a:solidFill>
                  <a:srgbClr val="10182B"/>
                </a:solidFill>
              </a:rPr>
              <a:t>Open-ended</a:t>
            </a:r>
          </a:p>
        </p:txBody>
      </p:sp>
      <p:sp>
        <p:nvSpPr>
          <p:cNvPr id="18" name="body-2">
            <a:extLst xmlns:a="http://schemas.openxmlformats.org/drawingml/2006/main">
              <a:ext uri="{FF2B5EF4-FFF2-40B4-BE49-F238E27FC236}">
                <a16:creationId xmlns:a16="http://schemas.microsoft.com/office/drawing/2014/main" id="{7B2E0093-127D-4AC4-8ED0-054D1A125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409950"/>
            <a:ext cx="2667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26079"/>
                </a:solidFill>
              </a:defRPr>
            </a:pPr>
            <a:r>
              <a:rPr sz="1425">
                <a:solidFill>
                  <a:srgbClr val="526079"/>
                </a:solidFill>
              </a:rPr>
              <a:t>HTML, React, and Python run in a sandbox iframe or terminable Worker.</a:t>
            </a:r>
          </a:p>
        </p:txBody>
      </p:sp>
      <p:sp>
        <p:nvSpPr>
          <p:cNvPr id="19" name="tag-box-2">
            <a:extLst xmlns:a="http://schemas.openxmlformats.org/drawingml/2006/main">
              <a:ext uri="{FF2B5EF4-FFF2-40B4-BE49-F238E27FC236}">
                <a16:creationId xmlns:a16="http://schemas.microsoft.com/office/drawing/2014/main" id="{F7EF5907-1D0A-48A3-A066-9E815A421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629150"/>
            <a:ext cx="10477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EDF1FF"/>
          </a:solidFill>
          <a:ln xmlns:a="http://schemas.openxmlformats.org/drawingml/2006/main" w="9525">
            <a:solidFill>
              <a:srgbClr val="D4DEFF"/>
            </a:solidFill>
            <a:prstDash val="solid"/>
          </a:ln>
        </p:spPr>
      </p:sp>
      <p:sp>
        <p:nvSpPr>
          <p:cNvPr id="20" name="tag-2">
            <a:extLst xmlns:a="http://schemas.openxmlformats.org/drawingml/2006/main">
              <a:ext uri="{FF2B5EF4-FFF2-40B4-BE49-F238E27FC236}">
                <a16:creationId xmlns:a16="http://schemas.microsoft.com/office/drawing/2014/main" id="{49390331-0DB3-43A9-99C3-62C8182A1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724400"/>
            <a:ext cx="819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5B79EA"/>
                </a:solidFill>
              </a:defRPr>
            </a:pPr>
            <a:r>
              <a:rPr sz="825" b="1">
                <a:solidFill>
                  <a:srgbClr val="5B79EA"/>
                </a:solidFill>
              </a:rPr>
              <a:t>Isolated</a:t>
            </a:r>
          </a:p>
        </p:txBody>
      </p:sp>
      <p:sp>
        <p:nvSpPr>
          <p:cNvPr id="21" name="footer-2">
            <a:extLst xmlns:a="http://schemas.openxmlformats.org/drawingml/2006/main">
              <a:ext uri="{FF2B5EF4-FFF2-40B4-BE49-F238E27FC236}">
                <a16:creationId xmlns:a16="http://schemas.microsoft.com/office/drawing/2014/main" id="{C79E1BD1-9D40-4571-B179-3C54E2507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8C9AB5"/>
                </a:solidFill>
              </a:defRPr>
            </a:pPr>
            <a:r>
              <a:rPr sz="675">
                <a:solidFill>
                  <a:srgbClr val="8C9AB5"/>
                </a:solidFill>
              </a:rPr>
              <a:t>MODELCANVAS  /  OFFLINE FIXTURE                                      2</a:t>
            </a:r>
          </a:p>
        </p:txBody>
      </p:sp>
    </p:spTree>
    <p:extLst>
      <p:ext uri="{BB962C8B-B14F-4D97-AF65-F5344CB8AC3E}">
        <p14:creationId xmlns:p14="http://schemas.microsoft.com/office/powerpoint/2010/main" val="109207196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018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0C6DA769-FF69-4E6E-B877-B626A4E6B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B79EA"/>
                </a:solidFill>
              </a:defRPr>
            </a:pPr>
            <a:r>
              <a:rPr sz="975" b="1">
                <a:solidFill>
                  <a:srgbClr val="5B79EA"/>
                </a:solidFill>
              </a:rPr>
              <a:t>OBSERVABLE BY DESIGN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5A27888-9493-467E-9AD4-123EB710C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695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Every render leaves a trace</a:t>
            </a:r>
          </a:p>
        </p:txBody>
      </p:sp>
      <p:sp>
        <p:nvSpPr>
          <p:cNvPr id="3" name="connector-0">
            <a:extLst xmlns:a="http://schemas.openxmlformats.org/drawingml/2006/main">
              <a:ext uri="{FF2B5EF4-FFF2-40B4-BE49-F238E27FC236}">
                <a16:creationId xmlns:a16="http://schemas.microsoft.com/office/drawing/2014/main" id="{BB1D43B2-6082-4475-AFCA-197EAA7F3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162300"/>
            <a:ext cx="1047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D3952"/>
            </a:solidFill>
            <a:prstDash val="solid"/>
          </a:ln>
        </p:spPr>
      </p:sp>
      <p:sp>
        <p:nvSpPr>
          <p:cNvPr id="4" name="connector-1">
            <a:extLst xmlns:a="http://schemas.openxmlformats.org/drawingml/2006/main">
              <a:ext uri="{FF2B5EF4-FFF2-40B4-BE49-F238E27FC236}">
                <a16:creationId xmlns:a16="http://schemas.microsoft.com/office/drawing/2014/main" id="{359F9457-C386-4C8A-8962-46C5CBA2A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162300"/>
            <a:ext cx="1047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D3952"/>
            </a:solidFill>
            <a:prstDash val="solid"/>
          </a:ln>
        </p:spPr>
      </p:sp>
      <p:sp>
        <p:nvSpPr>
          <p:cNvPr id="5" name="connector-2">
            <a:extLst xmlns:a="http://schemas.openxmlformats.org/drawingml/2006/main">
              <a:ext uri="{FF2B5EF4-FFF2-40B4-BE49-F238E27FC236}">
                <a16:creationId xmlns:a16="http://schemas.microsoft.com/office/drawing/2014/main" id="{82A9557F-00A7-4BAC-A5B4-AAA89482D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162300"/>
            <a:ext cx="1047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D3952"/>
            </a:solidFill>
            <a:prstDash val="solid"/>
          </a:ln>
        </p:spPr>
      </p:sp>
      <p:sp>
        <p:nvSpPr>
          <p:cNvPr id="6" name="connector-3">
            <a:extLst xmlns:a="http://schemas.openxmlformats.org/drawingml/2006/main">
              <a:ext uri="{FF2B5EF4-FFF2-40B4-BE49-F238E27FC236}">
                <a16:creationId xmlns:a16="http://schemas.microsoft.com/office/drawing/2014/main" id="{38F4421F-F797-400D-BFB6-95F073B55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162300"/>
            <a:ext cx="1047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D3952"/>
            </a:solidFill>
            <a:prstDash val="solid"/>
          </a:ln>
        </p:spPr>
      </p:sp>
      <p:sp>
        <p:nvSpPr>
          <p:cNvPr id="7" name="connector-4">
            <a:extLst xmlns:a="http://schemas.openxmlformats.org/drawingml/2006/main">
              <a:ext uri="{FF2B5EF4-FFF2-40B4-BE49-F238E27FC236}">
                <a16:creationId xmlns:a16="http://schemas.microsoft.com/office/drawing/2014/main" id="{86A82373-CA56-43A9-BE64-45D6A1917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162300"/>
            <a:ext cx="1047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D3952"/>
            </a:solidFill>
            <a:prstDash val="solid"/>
          </a:ln>
        </p:spPr>
      </p:sp>
      <p:sp>
        <p:nvSpPr>
          <p:cNvPr id="8" name="step-0">
            <a:extLst xmlns:a="http://schemas.openxmlformats.org/drawingml/2006/main">
              <a:ext uri="{FF2B5EF4-FFF2-40B4-BE49-F238E27FC236}">
                <a16:creationId xmlns:a16="http://schemas.microsoft.com/office/drawing/2014/main" id="{5D05DA9A-847F-4C21-916C-2FB58229F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33675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79EA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9" name="step-label-0">
            <a:extLst xmlns:a="http://schemas.openxmlformats.org/drawingml/2006/main">
              <a:ext uri="{FF2B5EF4-FFF2-40B4-BE49-F238E27FC236}">
                <a16:creationId xmlns:a16="http://schemas.microsoft.com/office/drawing/2014/main" id="{95AEDEED-71C7-4B9F-8087-C04CAB586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62275"/>
            <a:ext cx="876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step-title-0">
            <a:extLst xmlns:a="http://schemas.openxmlformats.org/drawingml/2006/main">
              <a:ext uri="{FF2B5EF4-FFF2-40B4-BE49-F238E27FC236}">
                <a16:creationId xmlns:a16="http://schemas.microsoft.com/office/drawing/2014/main" id="{E2BF28CF-CCFB-45F1-9AC6-69015CED6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829050"/>
            <a:ext cx="1295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CE6FF"/>
                </a:solidFill>
              </a:defRPr>
            </a:pPr>
            <a:r>
              <a:rPr sz="1350" b="1">
                <a:solidFill>
                  <a:srgbClr val="DCE6FF"/>
                </a:solidFill>
              </a:rPr>
              <a:t>Validate</a:t>
            </a:r>
          </a:p>
        </p:txBody>
      </p:sp>
      <p:sp>
        <p:nvSpPr>
          <p:cNvPr id="11" name="step-1">
            <a:extLst xmlns:a="http://schemas.openxmlformats.org/drawingml/2006/main">
              <a:ext uri="{FF2B5EF4-FFF2-40B4-BE49-F238E27FC236}">
                <a16:creationId xmlns:a16="http://schemas.microsoft.com/office/drawing/2014/main" id="{FC3D7BC3-574E-42F7-997C-F8E198FFF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733675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79EA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2" name="step-label-1">
            <a:extLst xmlns:a="http://schemas.openxmlformats.org/drawingml/2006/main">
              <a:ext uri="{FF2B5EF4-FFF2-40B4-BE49-F238E27FC236}">
                <a16:creationId xmlns:a16="http://schemas.microsoft.com/office/drawing/2014/main" id="{097046DA-1F68-44ED-817F-C7451127D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962275"/>
            <a:ext cx="876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step-title-1">
            <a:extLst xmlns:a="http://schemas.openxmlformats.org/drawingml/2006/main">
              <a:ext uri="{FF2B5EF4-FFF2-40B4-BE49-F238E27FC236}">
                <a16:creationId xmlns:a16="http://schemas.microsoft.com/office/drawing/2014/main" id="{8CA62648-6082-452E-867A-23A311B72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829050"/>
            <a:ext cx="1295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CE6FF"/>
                </a:solidFill>
              </a:defRPr>
            </a:pPr>
            <a:r>
              <a:rPr sz="1350" b="1">
                <a:solidFill>
                  <a:srgbClr val="DCE6FF"/>
                </a:solidFill>
              </a:rPr>
              <a:t>Migrate</a:t>
            </a:r>
          </a:p>
        </p:txBody>
      </p:sp>
      <p:sp>
        <p:nvSpPr>
          <p:cNvPr id="14" name="step-2">
            <a:extLst xmlns:a="http://schemas.openxmlformats.org/drawingml/2006/main">
              <a:ext uri="{FF2B5EF4-FFF2-40B4-BE49-F238E27FC236}">
                <a16:creationId xmlns:a16="http://schemas.microsoft.com/office/drawing/2014/main" id="{1324B879-EAB4-45BC-8265-9445CF5E3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733675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79EA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5" name="step-label-2">
            <a:extLst xmlns:a="http://schemas.openxmlformats.org/drawingml/2006/main">
              <a:ext uri="{FF2B5EF4-FFF2-40B4-BE49-F238E27FC236}">
                <a16:creationId xmlns:a16="http://schemas.microsoft.com/office/drawing/2014/main" id="{715C2AD4-20C7-438E-AB0C-DFCBC12BF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962275"/>
            <a:ext cx="876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step-title-2">
            <a:extLst xmlns:a="http://schemas.openxmlformats.org/drawingml/2006/main">
              <a:ext uri="{FF2B5EF4-FFF2-40B4-BE49-F238E27FC236}">
                <a16:creationId xmlns:a16="http://schemas.microsoft.com/office/drawing/2014/main" id="{F006E5E6-0C46-4C9D-BBA3-1A695DFFE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829050"/>
            <a:ext cx="1295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CE6FF"/>
                </a:solidFill>
              </a:defRPr>
            </a:pPr>
            <a:r>
              <a:rPr sz="1350" b="1">
                <a:solidFill>
                  <a:srgbClr val="DCE6FF"/>
                </a:solidFill>
              </a:rPr>
              <a:t>Resolve</a:t>
            </a:r>
          </a:p>
        </p:txBody>
      </p:sp>
      <p:sp>
        <p:nvSpPr>
          <p:cNvPr id="17" name="step-3">
            <a:extLst xmlns:a="http://schemas.openxmlformats.org/drawingml/2006/main">
              <a:ext uri="{FF2B5EF4-FFF2-40B4-BE49-F238E27FC236}">
                <a16:creationId xmlns:a16="http://schemas.microsoft.com/office/drawing/2014/main" id="{343DC1B7-4D64-46D5-9C75-7256EE773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733675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79EA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8" name="step-label-3">
            <a:extLst xmlns:a="http://schemas.openxmlformats.org/drawingml/2006/main">
              <a:ext uri="{FF2B5EF4-FFF2-40B4-BE49-F238E27FC236}">
                <a16:creationId xmlns:a16="http://schemas.microsoft.com/office/drawing/2014/main" id="{F9D39743-9CFB-4169-B877-51532D2AC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962275"/>
            <a:ext cx="876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9" name="step-title-3">
            <a:extLst xmlns:a="http://schemas.openxmlformats.org/drawingml/2006/main">
              <a:ext uri="{FF2B5EF4-FFF2-40B4-BE49-F238E27FC236}">
                <a16:creationId xmlns:a16="http://schemas.microsoft.com/office/drawing/2014/main" id="{C062163E-71A2-4936-BD07-5E95B2EF6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829050"/>
            <a:ext cx="1295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CE6FF"/>
                </a:solidFill>
              </a:defRPr>
            </a:pPr>
            <a:r>
              <a:rPr sz="1350" b="1">
                <a:solidFill>
                  <a:srgbClr val="DCE6FF"/>
                </a:solidFill>
              </a:rPr>
              <a:t>Lazy load</a:t>
            </a:r>
          </a:p>
        </p:txBody>
      </p:sp>
      <p:sp>
        <p:nvSpPr>
          <p:cNvPr id="20" name="step-4">
            <a:extLst xmlns:a="http://schemas.openxmlformats.org/drawingml/2006/main">
              <a:ext uri="{FF2B5EF4-FFF2-40B4-BE49-F238E27FC236}">
                <a16:creationId xmlns:a16="http://schemas.microsoft.com/office/drawing/2014/main" id="{329CA204-2E61-4406-AEF6-A555611BE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733675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79EA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1" name="step-label-4">
            <a:extLst xmlns:a="http://schemas.openxmlformats.org/drawingml/2006/main">
              <a:ext uri="{FF2B5EF4-FFF2-40B4-BE49-F238E27FC236}">
                <a16:creationId xmlns:a16="http://schemas.microsoft.com/office/drawing/2014/main" id="{C83C583D-1C9C-4CFB-AE37-58829ACF1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962275"/>
            <a:ext cx="876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2" name="step-title-4">
            <a:extLst xmlns:a="http://schemas.openxmlformats.org/drawingml/2006/main">
              <a:ext uri="{FF2B5EF4-FFF2-40B4-BE49-F238E27FC236}">
                <a16:creationId xmlns:a16="http://schemas.microsoft.com/office/drawing/2014/main" id="{E393545C-5113-418C-8CBD-E7666D30B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829050"/>
            <a:ext cx="1295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CE6FF"/>
                </a:solidFill>
              </a:defRPr>
            </a:pPr>
            <a:r>
              <a:rPr sz="1350" b="1">
                <a:solidFill>
                  <a:srgbClr val="DCE6FF"/>
                </a:solidFill>
              </a:rPr>
              <a:t>Render</a:t>
            </a:r>
          </a:p>
        </p:txBody>
      </p:sp>
      <p:sp>
        <p:nvSpPr>
          <p:cNvPr id="23" name="step-5">
            <a:extLst xmlns:a="http://schemas.openxmlformats.org/drawingml/2006/main">
              <a:ext uri="{FF2B5EF4-FFF2-40B4-BE49-F238E27FC236}">
                <a16:creationId xmlns:a16="http://schemas.microsoft.com/office/drawing/2014/main" id="{35685659-B617-47A9-B202-5AE8AD782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733675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95F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4" name="step-label-5">
            <a:extLst xmlns:a="http://schemas.openxmlformats.org/drawingml/2006/main">
              <a:ext uri="{FF2B5EF4-FFF2-40B4-BE49-F238E27FC236}">
                <a16:creationId xmlns:a16="http://schemas.microsoft.com/office/drawing/2014/main" id="{A7E15ADC-8123-4EDF-A970-2B4AF8487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962275"/>
            <a:ext cx="876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5" name="step-title-5">
            <a:extLst xmlns:a="http://schemas.openxmlformats.org/drawingml/2006/main">
              <a:ext uri="{FF2B5EF4-FFF2-40B4-BE49-F238E27FC236}">
                <a16:creationId xmlns:a16="http://schemas.microsoft.com/office/drawing/2014/main" id="{C0D71C6B-7605-4DAD-BDF8-FE2E2B44A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829050"/>
            <a:ext cx="1295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CE6FF"/>
                </a:solidFill>
              </a:defRPr>
            </a:pPr>
            <a:r>
              <a:rPr sz="1350" b="1">
                <a:solidFill>
                  <a:srgbClr val="DCE6FF"/>
                </a:solidFill>
              </a:rPr>
              <a:t>Fallback</a:t>
            </a:r>
          </a:p>
        </p:txBody>
      </p:sp>
      <p:sp>
        <p:nvSpPr>
          <p:cNvPr id="26" name="takeaway">
            <a:extLst xmlns:a="http://schemas.openxmlformats.org/drawingml/2006/main">
              <a:ext uri="{FF2B5EF4-FFF2-40B4-BE49-F238E27FC236}">
                <a16:creationId xmlns:a16="http://schemas.microsoft.com/office/drawing/2014/main" id="{4A5D64CA-B2D2-43E3-9D73-41B1CF75E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762500"/>
            <a:ext cx="8953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DCE6FF"/>
                </a:solidFill>
              </a:defRPr>
            </a:pPr>
            <a:r>
              <a:rPr sz="1725">
                <a:solidFill>
                  <a:srgbClr val="DCE6FF"/>
                </a:solidFill>
              </a:rPr>
              <a:t>Invalid data never reaches a renderer. Failed modules fall back safely. The Inspector records the selected renderer, capabilities, timing, errors, and fallback route.</a:t>
            </a:r>
          </a:p>
        </p:txBody>
      </p:sp>
      <p:sp>
        <p:nvSpPr>
          <p:cNvPr id="27" name="footer-3">
            <a:extLst xmlns:a="http://schemas.openxmlformats.org/drawingml/2006/main">
              <a:ext uri="{FF2B5EF4-FFF2-40B4-BE49-F238E27FC236}">
                <a16:creationId xmlns:a16="http://schemas.microsoft.com/office/drawing/2014/main" id="{391B63ED-B468-494B-8836-CDAE1F166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8C9AB5"/>
                </a:solidFill>
              </a:defRPr>
            </a:pPr>
            <a:r>
              <a:rPr sz="675">
                <a:solidFill>
                  <a:srgbClr val="8C9AB5"/>
                </a:solidFill>
              </a:rPr>
              <a:t>MODELCANVAS  /  OFFLINE FIXTURE                                      3</a:t>
            </a:r>
          </a:p>
        </p:txBody>
      </p:sp>
    </p:spTree>
    <p:extLst>
      <p:ext uri="{BB962C8B-B14F-4D97-AF65-F5344CB8AC3E}">
        <p14:creationId xmlns:p14="http://schemas.microsoft.com/office/powerpoint/2010/main" val="58116765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2026-07-11T04:12:20.8000000Z</dcterms:created>
  <dcterms:modified xsi:type="dcterms:W3CDTF">2026-07-11T04:12:20.8000000Z</dcterms:modified>
</coreProperties>
</file>